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 Boss AI</a:t>
            </a:r>
            <a:endParaRPr lang="en-US" sz="4400" dirty="0"/>
          </a:p>
        </p:txBody>
      </p:sp>
      <p:sp>
        <p:nvSpPr>
          <p:cNvPr id="21" name="Text 18"/>
          <p:cNvSpPr/>
          <p:nvPr/>
        </p:nvSpPr>
        <p:spPr>
          <a:xfrm>
            <a:off x="914400" y="2834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 Multi-System Reinforcement Learning Framework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Real-Time Combat Adaptation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25780" y="3931920"/>
            <a:ext cx="1508760" cy="320040"/>
          </a:xfrm>
          <a:prstGeom prst="rect">
            <a:avLst/>
          </a:prstGeom>
          <a:solidFill>
            <a:srgbClr val="1A2A4A"/>
          </a:solidFill>
          <a:ln w="12700">
            <a:solidFill>
              <a:srgbClr val="0D4F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5780" y="3931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 Engine 5.7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171700" y="3931920"/>
            <a:ext cx="1508760" cy="320040"/>
          </a:xfrm>
          <a:prstGeom prst="rect">
            <a:avLst/>
          </a:prstGeom>
          <a:solidFill>
            <a:srgbClr val="1A2A4A"/>
          </a:solidFill>
          <a:ln w="12700">
            <a:solidFill>
              <a:srgbClr val="0D4F5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171700" y="3931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817620" y="3931920"/>
            <a:ext cx="1508760" cy="320040"/>
          </a:xfrm>
          <a:prstGeom prst="rect">
            <a:avLst/>
          </a:prstGeom>
          <a:solidFill>
            <a:srgbClr val="1A2A4A"/>
          </a:solidFill>
          <a:ln w="12700">
            <a:solidFill>
              <a:srgbClr val="0D4F5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817620" y="3931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463540" y="3931920"/>
            <a:ext cx="1508760" cy="320040"/>
          </a:xfrm>
          <a:prstGeom prst="rect">
            <a:avLst/>
          </a:prstGeom>
          <a:solidFill>
            <a:srgbClr val="1A2A4A"/>
          </a:solidFill>
          <a:ln w="12700">
            <a:solidFill>
              <a:srgbClr val="0D4F5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63540" y="3931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109460" y="3931920"/>
            <a:ext cx="1508760" cy="320040"/>
          </a:xfrm>
          <a:prstGeom prst="rect">
            <a:avLst/>
          </a:prstGeom>
          <a:solidFill>
            <a:srgbClr val="1A2A4A"/>
          </a:solidFill>
          <a:ln w="12700">
            <a:solidFill>
              <a:srgbClr val="0D4F5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09460" y="39319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Baselines3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891B2">
              <a:alpha val="7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4937760"/>
            <a:ext cx="8229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GAME_CORE Project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GAME_CORE?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action combat game built in Unreal Engine 5.7 where a </a:t>
            </a:r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character learns and adapts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each player's unique fighting style through deep reinforcement learning.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6517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scripted enemy behavior, the boss uses a portfolio of ML techniques — profiling, memory, hierarchical strategies, player modeling, and meta-learning — to deliver dynamically challenging and engaging fights.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1005840"/>
            <a:ext cx="3840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005840"/>
            <a:ext cx="64008" cy="3749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516636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166360" y="1554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83680" y="15544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 Engine 5.7 (C++)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166360" y="1901952"/>
            <a:ext cx="3200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66360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Framework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83680" y="19933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Baselines3 + PyTorch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166360" y="2340864"/>
            <a:ext cx="3200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66360" y="2432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83680" y="24323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socket, JSON @ 15 Hz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166360" y="2779776"/>
            <a:ext cx="3200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66360" y="28712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83680" y="28712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29-dim dynamic vector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166360" y="3218688"/>
            <a:ext cx="3200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66360" y="3310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583680" y="33101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Discrete(5): Attack/Block/Dodge/Approach/Retreat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166360" y="3657600"/>
            <a:ext cx="3200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66360" y="3749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583680" y="3749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layered ML systems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166360" y="4096512"/>
            <a:ext cx="3200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166360" y="4187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Systems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583680" y="41879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(MAML, IRL, World Model, Emotion)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solidFill>
            <a:srgbClr val="0891B2">
              <a:alpha val="92000"/>
            </a:srgbClr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70248"/>
            <a:ext cx="320040" cy="32004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188720" y="42062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paper combines all these systems in a real-time action combat context.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51560"/>
            <a:ext cx="3657600" cy="411480"/>
          </a:xfrm>
          <a:prstGeom prst="rect">
            <a:avLst/>
          </a:prstGeom>
          <a:solidFill>
            <a:srgbClr val="121E3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1556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051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 Engine 5.7 (C++)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8580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BP_Boss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77240" y="18745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CombatComponent (health, combos, warping)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777240" y="21488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StateObservationComponent (17-dim obs)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77240" y="24231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RLBridgeComponent (TCP server)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77240" y="2697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BossActionComponent (5 actions)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77724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EmotionEstimationComponent (affect)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777240" y="32461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PlayerMemoryComponent (cross-encounter)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8580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BP_NeuralHero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77240" y="3840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CombatComponent, PlayerProfileComponent,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HitReaction, HitFeedback, CombatState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251960" y="2286000"/>
            <a:ext cx="64008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5"/>
          <p:cNvSpPr/>
          <p:nvPr/>
        </p:nvSpPr>
        <p:spPr>
          <a:xfrm>
            <a:off x="4251960" y="2286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5555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029200" y="105156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029200" y="1051560"/>
            <a:ext cx="3657600" cy="411480"/>
          </a:xfrm>
          <a:prstGeom prst="rect">
            <a:avLst/>
          </a:prstGeom>
          <a:solidFill>
            <a:srgbClr val="121E3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115568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532120" y="1051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RL System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257800" y="160020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BossEnv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766560" y="1600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gymnasium.Env (dynamic obs)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5257800" y="198424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ConstrainedBossEnv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6766560" y="19842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win-rate cap + emotion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5257800" y="236829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HierarchicalAgent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6766560" y="236829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 + tactician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257800" y="275234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MaxEntIRL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766560" y="275234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reward recovery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257800" y="31363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WorldModel + Planner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6766560" y="31363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+ lookahead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5257800" y="35204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MAMLTrainer</a:t>
            </a:r>
            <a:endParaRPr lang="en-US" sz="950" dirty="0"/>
          </a:p>
        </p:txBody>
      </p:sp>
      <p:sp>
        <p:nvSpPr>
          <p:cNvPr id="35" name="Text 30"/>
          <p:cNvSpPr/>
          <p:nvPr/>
        </p:nvSpPr>
        <p:spPr>
          <a:xfrm>
            <a:off x="6766560" y="3520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meta-learning adaptation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5257800" y="390448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ReplayBufferManager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6766560" y="39044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per-player .npz data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0891B2">
              <a:alpha val="92000"/>
            </a:srgbClr>
          </a:solidFill>
          <a:ln/>
        </p:spPr>
      </p:sp>
      <p:sp>
        <p:nvSpPr>
          <p:cNvPr id="39" name="Text 34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Loop:  Observe (JSON) → Python selects action → UE5 executes → Reward feedback  |  ~15 Hz tick rate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Objectives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4114800" cy="1188720"/>
          </a:xfrm>
          <a:prstGeom prst="rect">
            <a:avLst/>
          </a:prstGeom>
          <a:solidFill>
            <a:srgbClr val="121E3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960120"/>
            <a:ext cx="54864" cy="11887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0698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Boss Behavior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88720" y="1417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boss AI via RL that learns combat tactics in real-time rather than using hand-scripted patterns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800600" y="960120"/>
            <a:ext cx="4114800" cy="1188720"/>
          </a:xfrm>
          <a:prstGeom prst="rect">
            <a:avLst/>
          </a:prstGeom>
          <a:solidFill>
            <a:srgbClr val="121E3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800600" y="960120"/>
            <a:ext cx="54864" cy="11887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1430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32120" y="10698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Per-Player Personalization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532120" y="1417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each player's style (8-dim EMA) and adapt difficulty, strategy, and behavior to individual players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7200" y="2331720"/>
            <a:ext cx="4114800" cy="1188720"/>
          </a:xfrm>
          <a:prstGeom prst="rect">
            <a:avLst/>
          </a:prstGeom>
          <a:solidFill>
            <a:srgbClr val="121E3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7200" y="2331720"/>
            <a:ext cx="54864" cy="11887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5146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24414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Over Domination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88720" y="2788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the boss to maintain fun: cap win rate at ~45%, ensure close fights, and reward spectacle over efficiency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800600" y="2331720"/>
            <a:ext cx="4114800" cy="1188720"/>
          </a:xfrm>
          <a:prstGeom prst="rect">
            <a:avLst/>
          </a:prstGeom>
          <a:solidFill>
            <a:srgbClr val="121E3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800600" y="2331720"/>
            <a:ext cx="54864" cy="11887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51460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532120" y="24414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Decision-Making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532120" y="2788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high-level strategy (aggressive, defensive, hit-and-run, counter) from moment-to-moment tactics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457200" y="3703320"/>
            <a:ext cx="4114800" cy="1188720"/>
          </a:xfrm>
          <a:prstGeom prst="rect">
            <a:avLst/>
          </a:prstGeom>
          <a:solidFill>
            <a:srgbClr val="121E3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7200" y="3703320"/>
            <a:ext cx="54864" cy="11887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886200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188720" y="38130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Adaptation to New Players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1188720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and MAML meta-learning let the boss adapt in 2–3 gradient steps instead of 50k+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4800600" y="3703320"/>
            <a:ext cx="4114800" cy="1188720"/>
          </a:xfrm>
          <a:prstGeom prst="rect">
            <a:avLst/>
          </a:prstGeom>
          <a:solidFill>
            <a:srgbClr val="121E36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4800600" y="3703320"/>
            <a:ext cx="54864" cy="11887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886200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532120" y="38130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Player Intent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5532120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IRL, world models, and emotion estimation to predict why the player acts, not just what they do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9 Layered ML Systems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088136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088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15568" y="1033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Profiling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15568" y="1307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8-dim EMA behavioral vector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1764792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" y="1892808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15568" y="18379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Cross-Encounter Memory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15568" y="21122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Per-dimension decay prevents all-knowing boss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569464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" y="2697480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15568" y="2642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RL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15568" y="29169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 (4 archetypes) + Tactician (5 actions)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3374136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" y="3502152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3502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15568" y="3447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Learning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15568" y="3721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Win-rate cap + incompetence budget for fun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4178808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94360" y="4306824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4306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115568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1115568" y="4526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Profile-driven taunts reveal boss reasoning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46320" y="96012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983480" y="1088136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2" name="Text 29"/>
          <p:cNvSpPr/>
          <p:nvPr/>
        </p:nvSpPr>
        <p:spPr>
          <a:xfrm>
            <a:off x="4983480" y="1088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504688" y="1033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5504688" y="1307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 + per-player fine-tuning from replays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846320" y="1764792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983480" y="1892808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4"/>
          <p:cNvSpPr/>
          <p:nvPr/>
        </p:nvSpPr>
        <p:spPr>
          <a:xfrm>
            <a:off x="4983480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504688" y="18379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MAML Meta-Learning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5504688" y="21122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in 2–3 gradient steps (novel)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846320" y="2569464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4983480" y="2697480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2" name="Text 39"/>
          <p:cNvSpPr/>
          <p:nvPr/>
        </p:nvSpPr>
        <p:spPr>
          <a:xfrm>
            <a:off x="4983480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504688" y="2642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IRL Player Modeling</a:t>
            </a:r>
            <a:endParaRPr lang="en-US" sz="1250" dirty="0"/>
          </a:p>
        </p:txBody>
      </p:sp>
      <p:sp>
        <p:nvSpPr>
          <p:cNvPr id="44" name="Text 41"/>
          <p:cNvSpPr/>
          <p:nvPr/>
        </p:nvSpPr>
        <p:spPr>
          <a:xfrm>
            <a:off x="5504688" y="29169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player reward function (novel)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846320" y="3374136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4983480" y="3502152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7" name="Text 44"/>
          <p:cNvSpPr/>
          <p:nvPr/>
        </p:nvSpPr>
        <p:spPr>
          <a:xfrm>
            <a:off x="4983480" y="3502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9a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5504688" y="3447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 + Planning</a:t>
            </a:r>
            <a:endParaRPr lang="en-US" sz="1250" dirty="0"/>
          </a:p>
        </p:txBody>
      </p:sp>
      <p:sp>
        <p:nvSpPr>
          <p:cNvPr id="49" name="Text 46"/>
          <p:cNvSpPr/>
          <p:nvPr/>
        </p:nvSpPr>
        <p:spPr>
          <a:xfrm>
            <a:off x="5504688" y="3721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dynamics for lookahead (novel)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846320" y="4178808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4983480" y="4306824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2" name="Text 49"/>
          <p:cNvSpPr/>
          <p:nvPr/>
        </p:nvSpPr>
        <p:spPr>
          <a:xfrm>
            <a:off x="4983480" y="4306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5504688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AI</a:t>
            </a:r>
            <a:endParaRPr lang="en-US" sz="1250" dirty="0"/>
          </a:p>
        </p:txBody>
      </p:sp>
      <p:sp>
        <p:nvSpPr>
          <p:cNvPr id="54" name="Text 51"/>
          <p:cNvSpPr/>
          <p:nvPr/>
        </p:nvSpPr>
        <p:spPr>
          <a:xfrm>
            <a:off x="5504688" y="4526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frustration/flow/boredom (novel)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3200400" y="475488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6" name="Text 53"/>
          <p:cNvSpPr/>
          <p:nvPr/>
        </p:nvSpPr>
        <p:spPr>
          <a:xfrm>
            <a:off x="3456432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techniques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5394960" y="475488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8" name="Text 55"/>
          <p:cNvSpPr/>
          <p:nvPr/>
        </p:nvSpPr>
        <p:spPr>
          <a:xfrm>
            <a:off x="5650992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contributions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228600"/>
            <a:ext cx="11887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0" y="228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28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MAML Meta-Learning for Boss AI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application of Model-Agnostic Meta-Learning to game enemy adaptation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" y="1664208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60120" y="16276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replay data from 8+ distinct players (3+ episodes each)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4360" y="2075688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2075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60120" y="20391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Meta-train: learn initial weights θ designed for fast adaptation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4360" y="2487168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2487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60120" y="24505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loop: N gradient steps on player-specific support data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4360" y="2898648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" y="2898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60120" y="28620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loop: evaluate on query data, backprop through inner loop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94360" y="3310128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3310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60120" y="32735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runtime: adapt to any new player in 2–3 gradient steps (seconds)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846320" y="123444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46320" y="1234440"/>
            <a:ext cx="3840480" cy="365760"/>
          </a:xfrm>
          <a:prstGeom prst="rect">
            <a:avLst/>
          </a:prstGeom>
          <a:solidFill>
            <a:srgbClr val="121E36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029200" y="16916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5400" dirty="0"/>
          </a:p>
        </p:txBody>
      </p:sp>
      <p:sp>
        <p:nvSpPr>
          <p:cNvPr id="28" name="Text 25"/>
          <p:cNvSpPr/>
          <p:nvPr/>
        </p:nvSpPr>
        <p:spPr>
          <a:xfrm>
            <a:off x="6126480" y="1783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04088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31520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50k+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7315200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steps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(transfer learning)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846320" y="3246120"/>
            <a:ext cx="38404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846320" y="3246120"/>
            <a:ext cx="64008" cy="1143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337560"/>
            <a:ext cx="274320" cy="27432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440680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Novel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5074920" y="36576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 et al. 2017 introduced MAML for locomotion tasks. No published work applies meta-learning to game boss AI. This is the first real-time combat application.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0891B2">
              <a:alpha val="92000"/>
            </a:srgbClr>
          </a:solidFill>
          <a:ln/>
        </p:spPr>
      </p:sp>
      <p:sp>
        <p:nvSpPr>
          <p:cNvPr id="38" name="Text 34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MamlPolicy (actor-critic MLP) + differentiable inner loop via torch.autograd.grad(create_graph=True)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228600"/>
            <a:ext cx="11887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0" y="228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28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IRL Player Modeling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Reinforcement Learning recovers the player's implicit reward function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39319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solidFill>
            <a:srgbClr val="121E36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Entropy IRL (Ziebart et al. 2008)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R(s) = θᵀ · φ(s)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85800" y="2286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371600" y="2286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20-dim learned reward weight vector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" y="2697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φ(s)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371600" y="2697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vector: HP diff, range, advantage, profile...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5800" y="3108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371600" y="3108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P(a|s) for 5 actions via soft Q-values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85800" y="3520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371600" y="3520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35–50% top-1 accuracy (vs 20% random)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4632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WHY, Not Just WHAT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846320" y="16459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profiling measures what actions a player takes. IRL recovers the underlying reward function—why they prefer certain actions—enabling prediction in novel situations the boss hasn't seen before.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4632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Points</a:t>
            </a:r>
            <a:endParaRPr lang="en-US" sz="13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063240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166360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dims added to observation (player action probs)</a:t>
            </a:r>
            <a:endParaRPr lang="en-US" sz="11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429000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166360" y="3383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BossPlanner with predicted player responses</a:t>
            </a:r>
            <a:endParaRPr lang="en-US" sz="11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794760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166360" y="3749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world model to simulate player behavior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0891B2">
              <a:alpha val="92000"/>
            </a:srgbClr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53128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51560" y="43434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paper uses IRL for real-time action combat player modeling. Closest work (Wang et al. 2019) targets MMO economies—a fundamentally different domain.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228600"/>
            <a:ext cx="11887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0" y="228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World Model &amp; Deliberative Planning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the boss from purely reactive to deliberative: think before acting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1645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371600"/>
            <a:ext cx="164592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4813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011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17-dim state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560320" y="1371600"/>
            <a:ext cx="2011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0" y="1371600"/>
            <a:ext cx="20116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2651760" y="14813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(MLP Dynamics)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65176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f(s, a_boss, a_player) → s', 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029200" y="1371600"/>
            <a:ext cx="1737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029200" y="1371600"/>
            <a:ext cx="173736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5"/>
          <p:cNvSpPr/>
          <p:nvPr/>
        </p:nvSpPr>
        <p:spPr>
          <a:xfrm>
            <a:off x="5120640" y="148132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BossPlanner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(1-2 step look.)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12064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actions × top-K player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223760" y="1371600"/>
            <a:ext cx="1463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223760" y="1371600"/>
            <a:ext cx="14630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0" y="14813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315200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with policy</a:t>
            </a:r>
            <a:endParaRPr lang="en-US" sz="9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691640"/>
            <a:ext cx="320040" cy="320040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691640"/>
            <a:ext cx="320040" cy="320040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691640"/>
            <a:ext cx="320040" cy="32004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457200" y="26517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7200" y="2651760"/>
            <a:ext cx="64008" cy="21031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3"/>
          <p:cNvSpPr/>
          <p:nvPr/>
        </p:nvSpPr>
        <p:spPr>
          <a:xfrm>
            <a:off x="68580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 Architecture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77240" y="31089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obs(17) + boss_action(5) + player_action(6) = 28 dims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777240" y="341071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Hidden: 128 → ReLU → 128 → ReLU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777240" y="371246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predicted next_obs(17) + reward(1) = 18 dims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777240" y="401421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supervised MSE on replay data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777240" y="43159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action estimated C++-side from observation deltas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754880" y="26517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754880" y="2651760"/>
            <a:ext cx="64008" cy="21031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743200"/>
            <a:ext cx="228600" cy="22860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30352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Novel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4983480" y="31089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DreamerV3 (2023) demonstrated world models in Atari/Minecraft but for player agents, not combat enemy AI. No paper applies learned dynamics to boss action planning in real-time melee combat.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4983480" y="3931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IRL + World Model synergy: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4983480" y="4206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IRL predicts what the player will do. The world model predicts what happens next. Together they enable the boss to think ahead.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228600"/>
            <a:ext cx="11887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589520" y="228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Emotion-Aware Adaptive AI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proxy for player affect — no hardware required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269748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280160"/>
            <a:ext cx="269748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2801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1828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Signals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21031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loss streak, fight duration↓,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spam, low action entropy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" y="2926080"/>
            <a:ext cx="2148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3063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Response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" y="33375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gets easier: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 += 0.15, damage reward × 0.5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37560" y="1280160"/>
            <a:ext cx="269748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37560" y="1280160"/>
            <a:ext cx="269748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3337560" y="12801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474720" y="1828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Signals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474720" y="21031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 win rate, close HP at end,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action variety, stable duration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11880" y="2926080"/>
            <a:ext cx="2148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74720" y="3063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Response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474720" y="33375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maintains difficulty: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bonus, strategy preserved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217920" y="1280160"/>
            <a:ext cx="269748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17920" y="1280160"/>
            <a:ext cx="2697480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3"/>
          <p:cNvSpPr/>
          <p:nvPr/>
        </p:nvSpPr>
        <p:spPr>
          <a:xfrm>
            <a:off x="6217920" y="12801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Boredom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355080" y="1828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Signals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355080" y="21031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action rate, high idle time,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retreat-heavy play, easy wins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492240" y="2926080"/>
            <a:ext cx="2148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55080" y="3063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Response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355080" y="33375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gets harder: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 → 0, aggression bonus +0.3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solidFill>
            <a:srgbClr val="0891B2">
              <a:alpha val="92000"/>
            </a:srgbClr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17720"/>
            <a:ext cx="274320" cy="27432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051560" y="4526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Yannakakis (2011) proposed affect-driven game AI as a framework but never implemented it with RL. This is the first working implementation combining behavioral emotion estimation with constrained RL boss behavior.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Project Is Novel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publication combines these systems in real-time action combat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85800" y="1188720"/>
            <a:ext cx="146304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40280" y="1188720"/>
            <a:ext cx="182880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224028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Claim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60520" y="1188720"/>
            <a:ext cx="182880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416052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Published Work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80760" y="1188720"/>
            <a:ext cx="164592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6080760" y="1188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5800" y="1673352"/>
            <a:ext cx="1463040" cy="804672"/>
          </a:xfrm>
          <a:prstGeom prst="rect">
            <a:avLst/>
          </a:prstGeom>
          <a:solidFill>
            <a:srgbClr val="121E36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1673352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MAML for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AI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240280" y="1673352"/>
            <a:ext cx="1828800" cy="804672"/>
          </a:xfrm>
          <a:prstGeom prst="rect">
            <a:avLst/>
          </a:prstGeom>
          <a:solidFill>
            <a:srgbClr val="121E36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31720" y="1673352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meta-learning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to game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adaptation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60520" y="1673352"/>
            <a:ext cx="1828800" cy="804672"/>
          </a:xfrm>
          <a:prstGeom prst="rect">
            <a:avLst/>
          </a:prstGeom>
          <a:solidFill>
            <a:srgbClr val="121E36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51960" y="1673352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 et al. 2017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(locomotion only)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080760" y="1673352"/>
            <a:ext cx="1645920" cy="804672"/>
          </a:xfrm>
          <a:prstGeom prst="rect">
            <a:avLst/>
          </a:prstGeom>
          <a:solidFill>
            <a:srgbClr val="121E36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72200" y="167335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game 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85800" y="2551176"/>
            <a:ext cx="1463040" cy="804672"/>
          </a:xfrm>
          <a:prstGeom prst="rect">
            <a:avLst/>
          </a:prstGeom>
          <a:solidFill>
            <a:srgbClr val="121E36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2551176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IRL for Combat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240280" y="2551176"/>
            <a:ext cx="1828800" cy="804672"/>
          </a:xfrm>
          <a:prstGeom prst="rect">
            <a:avLst/>
          </a:prstGeom>
          <a:solidFill>
            <a:srgbClr val="121E36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331720" y="2551176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IRL-based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modeling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160520" y="2551176"/>
            <a:ext cx="1828800" cy="804672"/>
          </a:xfrm>
          <a:prstGeom prst="rect">
            <a:avLst/>
          </a:prstGeom>
          <a:solidFill>
            <a:srgbClr val="121E36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51960" y="2551176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2019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(MMO economies)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080760" y="2551176"/>
            <a:ext cx="1645920" cy="804672"/>
          </a:xfrm>
          <a:prstGeom prst="rect">
            <a:avLst/>
          </a:prstGeom>
          <a:solidFill>
            <a:srgbClr val="121E36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72200" y="2551176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domain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85800" y="3429000"/>
            <a:ext cx="1463040" cy="804672"/>
          </a:xfrm>
          <a:prstGeom prst="rect">
            <a:avLst/>
          </a:prstGeom>
          <a:solidFill>
            <a:srgbClr val="121E36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7240" y="3429000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Boss Planning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240280" y="3429000"/>
            <a:ext cx="1828800" cy="804672"/>
          </a:xfrm>
          <a:prstGeom prst="rect">
            <a:avLst/>
          </a:prstGeom>
          <a:solidFill>
            <a:srgbClr val="121E36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331720" y="3429000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learned dynamics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boss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planning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160520" y="3429000"/>
            <a:ext cx="1828800" cy="804672"/>
          </a:xfrm>
          <a:prstGeom prst="rect">
            <a:avLst/>
          </a:prstGeom>
          <a:solidFill>
            <a:srgbClr val="121E36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51960" y="3429000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DreamerV3 2023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(Atari/Minecraft)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080760" y="3429000"/>
            <a:ext cx="1645920" cy="804672"/>
          </a:xfrm>
          <a:prstGeom prst="rect">
            <a:avLst/>
          </a:prstGeom>
          <a:solidFill>
            <a:srgbClr val="121E36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72200" y="3429000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applied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AI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85800" y="4306824"/>
            <a:ext cx="1463040" cy="804672"/>
          </a:xfrm>
          <a:prstGeom prst="rect">
            <a:avLst/>
          </a:prstGeom>
          <a:solidFill>
            <a:srgbClr val="121E36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77240" y="4306824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Boss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240280" y="4306824"/>
            <a:ext cx="1828800" cy="804672"/>
          </a:xfrm>
          <a:prstGeom prst="rect">
            <a:avLst/>
          </a:prstGeom>
          <a:solidFill>
            <a:srgbClr val="121E36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331720" y="4306824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affect-driven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behavior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+ constraints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160520" y="4306824"/>
            <a:ext cx="1828800" cy="804672"/>
          </a:xfrm>
          <a:prstGeom prst="rect">
            <a:avLst/>
          </a:prstGeom>
          <a:solidFill>
            <a:srgbClr val="121E36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251960" y="4306824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Yannakakis EDPCG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(theoretical)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080760" y="4306824"/>
            <a:ext cx="1645920" cy="804672"/>
          </a:xfrm>
          <a:prstGeom prst="rect">
            <a:avLst/>
          </a:prstGeom>
          <a:solidFill>
            <a:srgbClr val="121E36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172200" y="4306824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proposed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never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Observation Pipeline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96012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0515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Velocity (3)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417320" y="1051560"/>
            <a:ext cx="640080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5"/>
          <p:cNvSpPr/>
          <p:nvPr/>
        </p:nvSpPr>
        <p:spPr>
          <a:xfrm>
            <a:off x="1417320" y="10515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Combo/Attack (2)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057400" y="1051560"/>
            <a:ext cx="320040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Shape 7"/>
          <p:cNvSpPr/>
          <p:nvPr/>
        </p:nvSpPr>
        <p:spPr>
          <a:xfrm>
            <a:off x="2377440" y="1051560"/>
            <a:ext cx="640080" cy="5486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1" name="Text 8"/>
          <p:cNvSpPr/>
          <p:nvPr/>
        </p:nvSpPr>
        <p:spPr>
          <a:xfrm>
            <a:off x="2377440" y="10515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Dist/Angle (2)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017520" y="1051560"/>
            <a:ext cx="320040" cy="54864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13" name="Shape 10"/>
          <p:cNvSpPr/>
          <p:nvPr/>
        </p:nvSpPr>
        <p:spPr>
          <a:xfrm>
            <a:off x="3337560" y="1051560"/>
            <a:ext cx="256032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3337560" y="1051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Profile (8)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7200" y="1645920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17 dims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1965960"/>
            <a:ext cx="1600200" cy="457200"/>
          </a:xfrm>
          <a:prstGeom prst="rect">
            <a:avLst/>
          </a:prstGeom>
          <a:solidFill>
            <a:srgbClr val="F59E0B">
              <a:alpha val="80000"/>
            </a:srgbClr>
          </a:solidFill>
          <a:ln w="19050">
            <a:solidFill>
              <a:srgbClr val="F59E0B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457200" y="1965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IRL P(a|s) (+5)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22219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irl.enabled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194560" y="1965960"/>
            <a:ext cx="960120" cy="457200"/>
          </a:xfrm>
          <a:prstGeom prst="rect">
            <a:avLst/>
          </a:prstGeom>
          <a:solidFill>
            <a:srgbClr val="EF4444">
              <a:alpha val="80000"/>
            </a:srgbClr>
          </a:solidFill>
          <a:ln w="19050">
            <a:solidFill>
              <a:srgbClr val="EF4444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2194560" y="1965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(+3)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194560" y="22219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emotion.enabled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291840" y="1965960"/>
            <a:ext cx="1280160" cy="457200"/>
          </a:xfrm>
          <a:prstGeom prst="rect">
            <a:avLst/>
          </a:prstGeom>
          <a:solidFill>
            <a:srgbClr val="10B981">
              <a:alpha val="80000"/>
            </a:srgbClr>
          </a:solidFill>
          <a:ln w="19050">
            <a:solidFill>
              <a:srgbClr val="10B981"/>
            </a:solidFill>
            <a:prstDash val="dash"/>
          </a:ln>
        </p:spPr>
      </p:sp>
      <p:sp>
        <p:nvSpPr>
          <p:cNvPr id="23" name="Text 20"/>
          <p:cNvSpPr/>
          <p:nvPr/>
        </p:nvSpPr>
        <p:spPr>
          <a:xfrm>
            <a:off x="3291840" y="1965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One-Hot (+4)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291840" y="22219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hierarchical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892040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augmentations (toggled in config.yaml)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Dimensions by Configuration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48640" y="3154680"/>
            <a:ext cx="201168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5"/>
          <p:cNvSpPr/>
          <p:nvPr/>
        </p:nvSpPr>
        <p:spPr>
          <a:xfrm>
            <a:off x="54864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606040" y="3154680"/>
            <a:ext cx="73152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7"/>
          <p:cNvSpPr/>
          <p:nvPr/>
        </p:nvSpPr>
        <p:spPr>
          <a:xfrm>
            <a:off x="2606040" y="3154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383280" y="3154680"/>
            <a:ext cx="502920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29"/>
          <p:cNvSpPr/>
          <p:nvPr/>
        </p:nvSpPr>
        <p:spPr>
          <a:xfrm>
            <a:off x="338328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48640" y="3566160"/>
            <a:ext cx="2011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1"/>
          <p:cNvSpPr/>
          <p:nvPr/>
        </p:nvSpPr>
        <p:spPr>
          <a:xfrm>
            <a:off x="64008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only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606040" y="3566160"/>
            <a:ext cx="7315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3"/>
          <p:cNvSpPr/>
          <p:nvPr/>
        </p:nvSpPr>
        <p:spPr>
          <a:xfrm>
            <a:off x="2697480" y="3566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383280" y="3566160"/>
            <a:ext cx="50292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3474720" y="3566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game state + 8 player profile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" y="3931920"/>
            <a:ext cx="201168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Text 37"/>
          <p:cNvSpPr/>
          <p:nvPr/>
        </p:nvSpPr>
        <p:spPr>
          <a:xfrm>
            <a:off x="64008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IRL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2606040" y="3931920"/>
            <a:ext cx="73152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Text 39"/>
          <p:cNvSpPr/>
          <p:nvPr/>
        </p:nvSpPr>
        <p:spPr>
          <a:xfrm>
            <a:off x="2697480" y="3931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3383280" y="3931920"/>
            <a:ext cx="502920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Text 41"/>
          <p:cNvSpPr/>
          <p:nvPr/>
        </p:nvSpPr>
        <p:spPr>
          <a:xfrm>
            <a:off x="3474720" y="3931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 predicted player action probs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548640" y="4297680"/>
            <a:ext cx="2011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3"/>
          <p:cNvSpPr/>
          <p:nvPr/>
        </p:nvSpPr>
        <p:spPr>
          <a:xfrm>
            <a:off x="64008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Emotion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2606040" y="4297680"/>
            <a:ext cx="7315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5"/>
          <p:cNvSpPr/>
          <p:nvPr/>
        </p:nvSpPr>
        <p:spPr>
          <a:xfrm>
            <a:off x="2697480" y="4297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3383280" y="4297680"/>
            <a:ext cx="50292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7"/>
          <p:cNvSpPr/>
          <p:nvPr/>
        </p:nvSpPr>
        <p:spPr>
          <a:xfrm>
            <a:off x="3474720" y="4297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frustration/flow/boredom scores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548640" y="4663440"/>
            <a:ext cx="201168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2" name="Text 49"/>
          <p:cNvSpPr/>
          <p:nvPr/>
        </p:nvSpPr>
        <p:spPr>
          <a:xfrm>
            <a:off x="640080" y="4663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Hierarchical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2606040" y="4663440"/>
            <a:ext cx="73152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4" name="Text 51"/>
          <p:cNvSpPr/>
          <p:nvPr/>
        </p:nvSpPr>
        <p:spPr>
          <a:xfrm>
            <a:off x="2697480" y="4663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3383280" y="4663440"/>
            <a:ext cx="502920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6" name="Text 53"/>
          <p:cNvSpPr/>
          <p:nvPr/>
        </p:nvSpPr>
        <p:spPr>
          <a:xfrm>
            <a:off x="3474720" y="4663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 strategy one-hot encoding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365760"/>
            <a:ext cx="1188720" cy="11887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 &amp; Research Contribution</a:t>
            </a:r>
            <a:endParaRPr lang="en-US" sz="3000" dirty="0"/>
          </a:p>
        </p:txBody>
      </p:sp>
      <p:sp>
        <p:nvSpPr>
          <p:cNvPr id="21" name="Shape 18"/>
          <p:cNvSpPr/>
          <p:nvPr/>
        </p:nvSpPr>
        <p:spPr>
          <a:xfrm>
            <a:off x="640080" y="2331720"/>
            <a:ext cx="1828800" cy="1051560"/>
          </a:xfrm>
          <a:prstGeom prst="rect">
            <a:avLst/>
          </a:prstGeom>
          <a:solidFill>
            <a:srgbClr val="121E36"/>
          </a:solidFill>
          <a:ln w="12700">
            <a:solidFill>
              <a:srgbClr val="0D4F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64008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788920" y="2331720"/>
            <a:ext cx="1828800" cy="1051560"/>
          </a:xfrm>
          <a:prstGeom prst="rect">
            <a:avLst/>
          </a:prstGeom>
          <a:solidFill>
            <a:srgbClr val="121E36"/>
          </a:solidFill>
          <a:ln w="12700">
            <a:solidFill>
              <a:srgbClr val="0D4F5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88920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278892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937760" y="2331720"/>
            <a:ext cx="1828800" cy="1051560"/>
          </a:xfrm>
          <a:prstGeom prst="rect">
            <a:avLst/>
          </a:prstGeom>
          <a:solidFill>
            <a:srgbClr val="121E36"/>
          </a:solidFill>
          <a:ln w="12700">
            <a:solidFill>
              <a:srgbClr val="0D4F5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37760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600" dirty="0"/>
          </a:p>
        </p:txBody>
      </p:sp>
      <p:sp>
        <p:nvSpPr>
          <p:cNvPr id="29" name="Text 26"/>
          <p:cNvSpPr/>
          <p:nvPr/>
        </p:nvSpPr>
        <p:spPr>
          <a:xfrm>
            <a:off x="493776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Steps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Adapt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086600" y="2331720"/>
            <a:ext cx="1828800" cy="1051560"/>
          </a:xfrm>
          <a:prstGeom prst="rect">
            <a:avLst/>
          </a:prstGeom>
          <a:solidFill>
            <a:srgbClr val="121E36"/>
          </a:solidFill>
          <a:ln w="12700">
            <a:solidFill>
              <a:srgbClr val="0D4F5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86600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</a:t>
            </a:r>
            <a:endParaRPr lang="en-US" sz="3600" dirty="0"/>
          </a:p>
        </p:txBody>
      </p:sp>
      <p:sp>
        <p:nvSpPr>
          <p:cNvPr id="32" name="Text 29"/>
          <p:cNvSpPr/>
          <p:nvPr/>
        </p:nvSpPr>
        <p:spPr>
          <a:xfrm>
            <a:off x="708660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Obs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Publication Venues</a:t>
            </a:r>
            <a:endParaRPr lang="en-US" sz="140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3977640"/>
            <a:ext cx="182880" cy="18288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2468880" y="3950208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Conference on Games (CoG)</a:t>
            </a:r>
            <a:endParaRPr lang="en-US" sz="1200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4297680"/>
            <a:ext cx="182880" cy="18288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2468880" y="4270248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AAAI Conference on AI &amp; Interactive Digital Entertainment (AIIDE)</a:t>
            </a:r>
            <a:endParaRPr lang="en-US" sz="120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4617720"/>
            <a:ext cx="182880" cy="18288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2468880" y="4590288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Games Workshop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891B2">
              <a:alpha val="70000"/>
            </a:srgbClr>
          </a:solidFill>
          <a:ln/>
        </p:spPr>
      </p:sp>
      <p:sp>
        <p:nvSpPr>
          <p:cNvPr id="41" name="Text 35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GAME_CORE  —  Adaptive Boss AI: A Novel Multi-System RL Framework for Real-Time Combat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Boss AI: A Novel Multi-System RL Framework for Real-Time Combat</dc:title>
  <dc:subject>PptxGenJS Presentation</dc:subject>
  <dc:creator>GAME_CORE</dc:creator>
  <cp:lastModifiedBy>GAME_CORE</cp:lastModifiedBy>
  <cp:revision>1</cp:revision>
  <dcterms:created xsi:type="dcterms:W3CDTF">2026-03-15T16:59:39Z</dcterms:created>
  <dcterms:modified xsi:type="dcterms:W3CDTF">2026-03-15T16:59:39Z</dcterms:modified>
</cp:coreProperties>
</file>